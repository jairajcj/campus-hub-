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-1143000"/>
            <a:ext cx="5029200" cy="5029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62890" y="-262890"/>
            <a:ext cx="3268980" cy="32689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1490" y="491490"/>
            <a:ext cx="1760219" cy="1760219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069848"/>
            <a:ext cx="603503" cy="6035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32004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3840480"/>
            <a:ext cx="2377440" cy="2377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0" y="4389120"/>
            <a:ext cx="1280160" cy="1280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96144" y="480974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57800" y="4800600"/>
            <a:ext cx="2286000" cy="22860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7850" y="5200650"/>
            <a:ext cx="1485900" cy="14859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00750" y="5543550"/>
            <a:ext cx="800100" cy="8001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63640" y="58064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1280160"/>
            <a:ext cx="4187952" cy="292608"/>
          </a:xfrm>
          <a:prstGeom prst="rect">
            <a:avLst/>
          </a:prstGeom>
          <a:solidFill>
            <a:srgbClr val="1A1A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316736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Inter"/>
              </a:rPr>
              <a:t> 🎓  MERN Stack  |  Full-Stack Web App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182880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CampusHub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063240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FF"/>
                </a:solidFill>
                <a:latin typeface="Inter"/>
              </a:rPr>
              <a:t>Digital Students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8BA7"/>
                </a:solidFill>
                <a:latin typeface="Inter"/>
              </a:rPr>
              <a:t>Campus News  ·  Lost &amp; Found  ·  Used Textbook Marketplace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663440"/>
            <a:ext cx="1472184" cy="292608"/>
          </a:xfrm>
          <a:prstGeom prst="rect">
            <a:avLst/>
          </a:prstGeom>
          <a:solidFill>
            <a:srgbClr val="1A1A2E"/>
          </a:solidFill>
          <a:ln w="1016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700016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Inter"/>
              </a:rPr>
              <a:t>  MongoDB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4663440"/>
            <a:ext cx="1472184" cy="292608"/>
          </a:xfrm>
          <a:prstGeom prst="rect">
            <a:avLst/>
          </a:prstGeom>
          <a:solidFill>
            <a:srgbClr val="1A1A2E"/>
          </a:solidFill>
          <a:ln w="10160">
            <a:solidFill>
              <a:srgbClr val="8B8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700016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8BA7"/>
                </a:solidFill>
                <a:latin typeface="Inter"/>
              </a:rPr>
              <a:t>  Express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663440"/>
            <a:ext cx="1271016" cy="292608"/>
          </a:xfrm>
          <a:prstGeom prst="rect">
            <a:avLst/>
          </a:prstGeom>
          <a:solidFill>
            <a:srgbClr val="1A1A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700016"/>
            <a:ext cx="1271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Inter"/>
              </a:rPr>
              <a:t>  React 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663440"/>
            <a:ext cx="1472184" cy="292608"/>
          </a:xfrm>
          <a:prstGeom prst="rect">
            <a:avLst/>
          </a:prstGeom>
          <a:solidFill>
            <a:srgbClr val="1A1A2E"/>
          </a:solidFill>
          <a:ln w="1016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4700016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Inter"/>
              </a:rPr>
              <a:t>  Node.js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81260" y="22860"/>
            <a:ext cx="1783080" cy="1783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2740" y="434340"/>
            <a:ext cx="960119" cy="960119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08208" y="74980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109728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CampusHub is a full-stack MERN web application that acts as a central digital hub for university students — enabling them to share campus news, post lost &amp; found items, and buy or sell used textbooks, all in one beautifully designed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3474720" cy="1188720"/>
          </a:xfrm>
          <a:prstGeom prst="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C63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8BA7"/>
                </a:solidFill>
                <a:latin typeface="Inter"/>
              </a:rPr>
              <a:t>Core Modules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514600"/>
            <a:ext cx="3474720" cy="11887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606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D4FF"/>
                </a:solidFill>
                <a:latin typeface="Calibri"/>
              </a:rPr>
              <a:t>9+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8BA7"/>
                </a:solidFill>
                <a:latin typeface="Inter"/>
              </a:rPr>
              <a:t>API Endpoints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514600"/>
            <a:ext cx="3474720" cy="11887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894"/>
                </a:solidFill>
                <a:latin typeface="Calibri"/>
              </a:rPr>
              <a:t>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8BA7"/>
                </a:solidFill>
                <a:latin typeface="Inter"/>
              </a:rPr>
              <a:t>Students Helped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86200"/>
            <a:ext cx="11064240" cy="566928"/>
          </a:xfrm>
          <a:prstGeom prst="rect">
            <a:avLst/>
          </a:prstGeom>
          <a:solidFill>
            <a:srgbClr val="11111B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77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Inter"/>
              </a:rPr>
              <a:t>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77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Inter"/>
              </a:rPr>
              <a:t>Campus News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9776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BA7"/>
                </a:solidFill>
                <a:latin typeface="Inter"/>
              </a:rPr>
              <a:t>Post &amp; browse announcements, events, academic &amp; sports updates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44568"/>
            <a:ext cx="11064240" cy="566928"/>
          </a:xfrm>
          <a:prstGeom prst="rect">
            <a:avLst/>
          </a:prstGeom>
          <a:solidFill>
            <a:srgbClr val="11111B"/>
          </a:solidFill>
          <a:ln w="762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36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Inter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36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43"/>
                </a:solidFill>
                <a:latin typeface="Inter"/>
              </a:rPr>
              <a:t>Lost &amp;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6360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BA7"/>
                </a:solidFill>
                <a:latin typeface="Inter"/>
              </a:rPr>
              <a:t>Report lost items, post found items — filter by category &amp; 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02936"/>
            <a:ext cx="11064240" cy="566928"/>
          </a:xfrm>
          <a:prstGeom prst="rect">
            <a:avLst/>
          </a:prstGeom>
          <a:solidFill>
            <a:srgbClr val="11111B"/>
          </a:solidFill>
          <a:ln w="762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94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Inter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943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Inter"/>
              </a:rPr>
              <a:t>Used Textbooks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29437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BA7"/>
                </a:solidFill>
                <a:latin typeface="Inter"/>
              </a:rPr>
              <a:t>List &amp; discover second-hand books — filter by subject, condition &amp; price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61304"/>
            <a:ext cx="11064240" cy="566928"/>
          </a:xfrm>
          <a:prstGeom prst="rect">
            <a:avLst/>
          </a:prstGeom>
          <a:solidFill>
            <a:srgbClr val="11111B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9527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Inter"/>
              </a:rPr>
              <a:t>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952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Inter"/>
              </a:rPr>
              <a:t>Direct 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95274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8BA7"/>
                </a:solidFill>
                <a:latin typeface="Inter"/>
              </a:rPr>
              <a:t>Every listing shows poster's email &amp; phone — no login required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86200"/>
            <a:ext cx="3200400" cy="3200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82930" y="4446270"/>
            <a:ext cx="2080260" cy="20802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2869" y="4926330"/>
            <a:ext cx="1120139" cy="1120139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" y="529437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 Stack — MERN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12801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788920" cy="5120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554480"/>
            <a:ext cx="1051560" cy="914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36192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94"/>
                </a:solidFill>
                <a:latin typeface="Calibri"/>
              </a:rPr>
              <a:t>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443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A7"/>
                </a:solidFill>
                <a:latin typeface="Inter"/>
              </a:rPr>
              <a:t>NoSQL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2240280" cy="18288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41985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Mongoose ODM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96512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4164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3 data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18304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663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Atlas /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40096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2852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Schema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1371600"/>
            <a:ext cx="2788920" cy="5120640"/>
          </a:xfrm>
          <a:prstGeom prst="rect">
            <a:avLst/>
          </a:prstGeom>
          <a:solidFill>
            <a:srgbClr val="1A1A2E"/>
          </a:solidFill>
          <a:ln w="19050">
            <a:solidFill>
              <a:srgbClr val="8B8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1554480"/>
            <a:ext cx="1051560" cy="914400"/>
          </a:xfrm>
          <a:prstGeom prst="rect">
            <a:avLst/>
          </a:prstGeom>
          <a:solidFill>
            <a:srgbClr val="8B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536192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25603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8BA7"/>
                </a:solidFill>
                <a:latin typeface="Calibri"/>
              </a:rPr>
              <a:t>Express.js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29443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A7"/>
                </a:solidFill>
                <a:latin typeface="Inter"/>
              </a:rPr>
              <a:t>REST API 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21608" y="3337560"/>
            <a:ext cx="2240280" cy="18288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75888" y="3474720"/>
            <a:ext cx="54864" cy="54864"/>
          </a:xfrm>
          <a:prstGeom prst="rect">
            <a:avLst/>
          </a:prstGeom>
          <a:solidFill>
            <a:srgbClr val="8B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31336" y="341985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RESTful routes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75888" y="4096512"/>
            <a:ext cx="54864" cy="54864"/>
          </a:xfrm>
          <a:prstGeom prst="rect">
            <a:avLst/>
          </a:prstGeom>
          <a:solidFill>
            <a:srgbClr val="8B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31336" y="404164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CORS enabled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75888" y="4718304"/>
            <a:ext cx="54864" cy="54864"/>
          </a:xfrm>
          <a:prstGeom prst="rect">
            <a:avLst/>
          </a:prstGeom>
          <a:solidFill>
            <a:srgbClr val="8B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1336" y="4663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Modular 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8" y="5340096"/>
            <a:ext cx="54864" cy="54864"/>
          </a:xfrm>
          <a:prstGeom prst="rect">
            <a:avLst/>
          </a:prstGeom>
          <a:solidFill>
            <a:srgbClr val="8B8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31336" y="52852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Error handling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1656" y="1371600"/>
            <a:ext cx="2788920" cy="5120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0336" y="1554480"/>
            <a:ext cx="105156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1536192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25603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  <a:latin typeface="Calibri"/>
              </a:rPr>
              <a:t>React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3096" y="29443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A7"/>
                </a:solidFill>
                <a:latin typeface="Inter"/>
              </a:rPr>
              <a:t>Frontend UI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65976" y="3337560"/>
            <a:ext cx="2240280" cy="18288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20256" y="3474720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75704" y="341985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Vite build tool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0256" y="4096512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75704" y="404164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React Router v6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0256" y="4718304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75704" y="4663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Hooks &amp; Context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0256" y="5340096"/>
            <a:ext cx="5486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75704" y="52852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Lucide icons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36024" y="1371600"/>
            <a:ext cx="2788920" cy="5120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04704" y="1554480"/>
            <a:ext cx="1051560" cy="914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04704" y="1536192"/>
            <a:ext cx="1051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27464" y="25603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94"/>
                </a:solidFill>
                <a:latin typeface="Calibri"/>
              </a:rPr>
              <a:t>Node.js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27464" y="29443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8BA7"/>
                </a:solidFill>
                <a:latin typeface="Inter"/>
              </a:rPr>
              <a:t>Runtime Environment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10344" y="3337560"/>
            <a:ext cx="2240280" cy="18288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64624" y="3474720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0072" y="341985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v20+ LTS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64624" y="4096512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20072" y="404164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dotenv config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64624" y="4718304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20072" y="46634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nodemon (dev)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64624" y="5340096"/>
            <a:ext cx="54864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20072" y="52852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Inter"/>
              </a:rPr>
              <a:t>npm workspaces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246120" cy="4389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2461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Inter"/>
              </a:rPr>
              <a:t>localhost:3000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React Router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Lucide Icons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react-hot-toast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41064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Axios HTTP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CSS 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7992" y="1325880"/>
            <a:ext cx="3246120" cy="4389120"/>
          </a:xfrm>
          <a:prstGeom prst="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7992" y="1325880"/>
            <a:ext cx="324612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3898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Express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63FF"/>
                </a:solidFill>
                <a:latin typeface="Inter"/>
              </a:rPr>
              <a:t>localhost:5000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2219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server.js (entry)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651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/api/news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08152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/api/lostfound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51129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/api/textbooks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941064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/api/stats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3708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CORS + dotenv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8784" y="1325880"/>
            <a:ext cx="3246120" cy="438912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58784" y="1325880"/>
            <a:ext cx="324612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5944" y="13898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MongoDB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894"/>
                </a:solidFill>
                <a:latin typeface="Inter"/>
              </a:rPr>
              <a:t>mongoose ODM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22219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News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41664" y="2651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LostFound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4" y="308152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Textbook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664" y="351129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Schema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4" y="3941064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Atlas / Local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43708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▸  Timestamps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39896" y="3447288"/>
            <a:ext cx="731520" cy="64008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9896" y="3282696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8BA7"/>
                </a:solidFill>
                <a:latin typeface="Inter"/>
              </a:rPr>
              <a:t>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0688" y="3447288"/>
            <a:ext cx="731520" cy="64008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0688" y="3282696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8BA7"/>
                </a:solidFill>
                <a:latin typeface="Inter"/>
              </a:rPr>
              <a:t>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8BA7"/>
                </a:solidFill>
                <a:latin typeface="Inter"/>
              </a:rPr>
              <a:t>⚡ Vite Proxy: /api → :5000 (dev) · Build: static bundle served by Node in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754880"/>
            <a:ext cx="2377440" cy="237744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5303520"/>
            <a:ext cx="1280160" cy="128016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10544" y="572414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MongoDB Data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1371600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4133087"/>
          </a:xfrm>
          <a:prstGeom prst="rect">
            <a:avLst/>
          </a:prstGeom>
          <a:solidFill>
            <a:srgbClr val="1A1A2E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📰  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7830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219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2219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6090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66090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Enum: announcement / event / academic / sports / cultural /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99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authorName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099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38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authorEmail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5387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authorPhone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977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optional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165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41655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[ String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5546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timestamps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8554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createdAt  ·  updatedAt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1280160"/>
            <a:ext cx="3657600" cy="4133087"/>
          </a:xfrm>
          <a:prstGeom prst="rect">
            <a:avLst/>
          </a:prstGeom>
          <a:solidFill>
            <a:srgbClr val="1A1A2E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1280160"/>
            <a:ext cx="3657600" cy="43891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13441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🔍  LostFound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17830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7608" y="17830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Enum: lost | found  ·  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22219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itemName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7608" y="22219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266090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7608" y="266090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Enum: electronics / keys / bags / books / clothing /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3099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7608" y="3099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3538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location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7608" y="35387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39776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dateLostFound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7608" y="3977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Date  · 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8" y="44165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posterName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7608" y="441655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98848" y="485546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7608" y="48554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Enum: active | resolved  ·  default: active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74736" y="1280160"/>
            <a:ext cx="3657600" cy="4133087"/>
          </a:xfrm>
          <a:prstGeom prst="rect">
            <a:avLst/>
          </a:prstGeom>
          <a:solidFill>
            <a:srgbClr val="1A1A2E"/>
          </a:solidFill>
          <a:ln w="1524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74736" y="1280160"/>
            <a:ext cx="3657600" cy="43891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1896" y="134416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📚  Textbook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7616" y="17830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66376" y="17830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7616" y="22219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author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66376" y="22219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7616" y="266090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subject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66376" y="266090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String  ·  required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7616" y="30998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category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6376" y="3099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Enum: engineering / science / cs / arts / business / 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7616" y="3538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condition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66376" y="35387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Enum: like-new | good | fair | poor  · 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7616" y="39776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price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66376" y="3977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Number  ·  required  ·  min 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7616" y="44165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negotiable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66376" y="441655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Boolean  ·  default true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57616" y="485546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Inter"/>
              </a:rPr>
              <a:t>sold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66376" y="48554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Boolean  ·  default false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REST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62456"/>
            <a:ext cx="685800" cy="32918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807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Fetch all news  ·  filters: category, search,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73936"/>
            <a:ext cx="11274552" cy="4114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10512"/>
            <a:ext cx="685800" cy="32918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4708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28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/api/news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Create a news post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21992"/>
            <a:ext cx="112745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258568"/>
            <a:ext cx="685800" cy="329184"/>
          </a:xfrm>
          <a:prstGeom prst="rect">
            <a:avLst/>
          </a:prstGeom>
          <a:solidFill>
            <a:srgbClr val="FF7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9514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76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/api/news/:id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76856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Delete a news 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70048"/>
            <a:ext cx="11274552" cy="4114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706624"/>
            <a:ext cx="685800" cy="32918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432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7249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/api/lostfound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724912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Fetch all items  ·  filters: type, category, status,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18104"/>
            <a:ext cx="112745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154680"/>
            <a:ext cx="685800" cy="32918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19125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172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/api/lostfound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7296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Create a lost/found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66160"/>
            <a:ext cx="11274552" cy="4114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602736"/>
            <a:ext cx="685800" cy="32918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6393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621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/api/lostfound/:id/status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621024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Update status → 'resolved'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14216"/>
            <a:ext cx="112745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050792"/>
            <a:ext cx="685800" cy="329184"/>
          </a:xfrm>
          <a:prstGeom prst="rect">
            <a:avLst/>
          </a:prstGeom>
          <a:solidFill>
            <a:srgbClr val="FF7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8736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069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/api/lostfound/:id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06908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Delete a lost/found 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62272"/>
            <a:ext cx="11274552" cy="4114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498848"/>
            <a:ext cx="685800" cy="32918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53542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5171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/api/textbooks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517136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Fetch books  ·  filters: category, condition, price, sort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10328"/>
            <a:ext cx="112745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946904"/>
            <a:ext cx="685800" cy="32918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9834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9651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/api/textbooks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965192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Create a textbook listing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358384"/>
            <a:ext cx="11274552" cy="4114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5394960"/>
            <a:ext cx="685800" cy="32918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43153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4132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/api/textbooks/:id/sold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41324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Mark textbook as sold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5843016"/>
            <a:ext cx="685800" cy="329184"/>
          </a:xfrm>
          <a:prstGeom prst="rect">
            <a:avLst/>
          </a:prstGeom>
          <a:solidFill>
            <a:srgbClr val="FF7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87959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DELETE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861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/api/textbooks/:id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5861304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Delete a textbook listing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254496"/>
            <a:ext cx="11274552" cy="41148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6291072"/>
            <a:ext cx="685800" cy="32918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32764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6309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Courier New"/>
              </a:rPr>
              <a:t>/api/stats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30936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Dashboard stats: news, lost, found, textbook counts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457200"/>
            <a:ext cx="3657600" cy="3657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2377440" cy="23774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731520"/>
            <a:ext cx="1280160" cy="12801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38944" y="115214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📰  Campus News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212080" cy="14173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✦  Post News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Students can share announcements, event notices, academic updates, sports results, and cultural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212080" cy="14173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✦  6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564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Announcement · Event · Academic · Sports · Cultural · Other — each visually colour-coded.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5212080" cy="14173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45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✦  Smart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1091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Full-text regex search across title, content, and tags simultaneously on the backend.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371600"/>
            <a:ext cx="5212080" cy="14173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5361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✦  Tag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90195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Free-form tags (comma-separated) stored as array — allows custom topic keywording.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2926080"/>
            <a:ext cx="5212080" cy="14173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090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✦  Author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4564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Author name, email and phone displayed on every card — click email to open mail client.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4480560"/>
            <a:ext cx="5212080" cy="14173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645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✦  Delete 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501091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One-click delete with confirmation — instantly synced with MongoDB via REST DELETE.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11155680" cy="685800"/>
          </a:xfrm>
          <a:prstGeom prst="rect">
            <a:avLst/>
          </a:prstGeom>
          <a:solidFill>
            <a:srgbClr val="11111B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833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📋  Sample Card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852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Inter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852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Tech Fest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852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📅 2d 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852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3FF"/>
                </a:solidFill>
                <a:latin typeface="Inter"/>
              </a:rPr>
              <a:t>✉ author@univ.edu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4297680"/>
            <a:ext cx="2377440" cy="2377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4846320"/>
            <a:ext cx="1280160" cy="12801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38944" y="526694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🔍  Lost &amp;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1005840" cy="3657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71323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7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675"/>
                </a:solidFill>
                <a:latin typeface="Inter"/>
              </a:rPr>
              <a:t>▸ Type 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Switch between 🔍 Lost and ✅ Found — colour-coded cards instantly update.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71323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43"/>
                </a:solidFill>
                <a:latin typeface="Inter"/>
              </a:rPr>
              <a:t>▸ 10 Item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2491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Electronics · ID/Cards · Keys · Bags · Books · Clothing · Jewelry · Sports · Stationery · Other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71323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Inter"/>
              </a:rPr>
              <a:t>▸ Location &amp;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8503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Every report includes where and when the item was lost/found.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71323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Inter"/>
              </a:rPr>
              <a:t>▸ Mark as 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451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Poster can mark their item as resolved once reunited — dims the card visually.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66360"/>
            <a:ext cx="713232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Inter"/>
              </a:rPr>
              <a:t>▸ Direct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052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Poster's email and phone shown on every card for direct student-to-student connection.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325880"/>
            <a:ext cx="3977639" cy="5120640"/>
          </a:xfrm>
          <a:prstGeom prst="rect">
            <a:avLst/>
          </a:prstGeom>
          <a:solidFill>
            <a:srgbClr val="1A1A2E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43"/>
                </a:solidFill>
                <a:latin typeface="Inter"/>
              </a:rPr>
              <a:t>Student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920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1️⃣  Click 'Post Item'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313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  Select Lost or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7066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2️⃣  Fill in item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0998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  Name, category, location,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493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3️⃣  Add contact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86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  Email and / or phone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279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4️⃣  Browse the 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6725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  Filter, search, find a 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0657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5️⃣  Contact directly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4589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  Email or call the poster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852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894"/>
                </a:solidFill>
                <a:latin typeface="Inter"/>
              </a:rPr>
              <a:t>✅  Mark Resolved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-685800"/>
            <a:ext cx="3200400" cy="32004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82930" y="-125730"/>
            <a:ext cx="2080260" cy="208026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2869" y="354330"/>
            <a:ext cx="1120139" cy="1120139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" y="72237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📚  Used Textbook Marketplace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42062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46504"/>
            <a:ext cx="112745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3794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10 Subject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37944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Engineering · Science · Maths · CS · Arts · Business · Medicine · Law · Social Science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4 Condition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2316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Like New 🟢 · Good 🟣 · Fair 🟠 · Poor 🔴  —  colour-coded badges on every 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16936"/>
            <a:ext cx="112745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0837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Price 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008376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Min/max price range filter + Sort: Newest / Price Low→High / Price High→Low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02152"/>
            <a:ext cx="11274552" cy="54864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59359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Negotiable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593592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Checkbox on listing form — shown as a cyan 'Negotiable' badge on the card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87368"/>
            <a:ext cx="112745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788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Contact Seller 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7880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Clicking 'Contact' opens a styled modal with seller email (mailto link) &amp; phone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72584"/>
            <a:ext cx="11274552" cy="54864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76402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Mark as Sold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764024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PATCH /api/textbooks/:id/sold — card shows a SOLD overlay with dim effect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4924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34924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Full-text search across title, author, and subject fields via MongoDB regex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843016"/>
            <a:ext cx="11274552" cy="54864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3445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Pagination-Ready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934456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Backend supports ?page=&amp;limit= params — frontend ready for paginator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0" y="-1828800"/>
            <a:ext cx="4572000" cy="4572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57700" y="-1028700"/>
            <a:ext cx="2971800" cy="2971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43500" y="-342900"/>
            <a:ext cx="1600200" cy="1600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0" y="1828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UI / UX Design Highlights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155448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490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Dark Glassmorphism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Near-black background (#09090F) with blurred backdrop-filter navbar and glowing orbs.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163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Inter"/>
              </a:rPr>
              <a:t>CSS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Full design token system — colours, radii, shadows, gradients defined as :root vars.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42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42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Inter"/>
              </a:rPr>
              <a:t>Micro-Animations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fade-in cards, hover translateY lift, shimmer skeleton loaders, spinning orbs on hero.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68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Inter"/>
              </a:rPr>
              <a:t>Responsive 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9788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CSS Grid auto-fill columns collapse to 1-col on mobile. Hamburger nav on ≤768px.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32588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490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43"/>
                </a:solidFill>
                <a:latin typeface="Inter"/>
              </a:rPr>
              <a:t>Toast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9202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react-hot-toast with custom dark-themed style for success / error feedback.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65176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816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8163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Inter"/>
              </a:rPr>
              <a:t>Skeleton Loaders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4612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Shimmer placeholder cards shown while API requests are in-flight — no blank flash.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97764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142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142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  <a:latin typeface="Inter"/>
              </a:rPr>
              <a:t>Live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7200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Search debounce via useCallback + useEffect — triggers new API fetch on each change.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5303520"/>
            <a:ext cx="5669280" cy="1188720"/>
          </a:xfrm>
          <a:prstGeom prst="rect">
            <a:avLst/>
          </a:prstGeom>
          <a:solidFill>
            <a:srgbClr val="1A1A2E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Inter"/>
              </a:rPr>
              <a:t>🏷️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468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Inter"/>
              </a:rPr>
              <a:t>Filter Chips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89788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Category &amp; type chips with active state (colour changes) — instant visual feedback.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Project Folder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fsd final project/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4650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├── package.json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7568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├── .gitignore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0487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├── server/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04872"/>
            <a:ext cx="36576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73405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├── server.js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06324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7675"/>
                </a:solidFill>
                <a:latin typeface="Courier New"/>
              </a:rPr>
              <a:t>│   ├──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9242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│   ├── models/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92424"/>
            <a:ext cx="36576" cy="274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72160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│   ├── News.js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05079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│   ├── LostFound.js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37997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│   └── Textbook.js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70916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│   └── routes/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09160"/>
            <a:ext cx="36576" cy="274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503834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    ├── news.js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536752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    ├── lostfound.js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569671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│       └── textbooks.js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41732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└── client/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17320"/>
            <a:ext cx="36576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746504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├── index.html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07568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├── vite.config.js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40487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├── package.json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273405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└── src/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734056"/>
            <a:ext cx="36576" cy="274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0256" y="306324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├── main.jsx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3392424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├── App.jsx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372160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├── index.css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05079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├── api/index.js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0256" y="437997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├── components/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379976"/>
            <a:ext cx="36576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470916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│   ├── Navbar.jsx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5038344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│   ├── Footer.jsx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536752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│   └── Modal.jsx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256" y="569671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        └── pages/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5696712"/>
            <a:ext cx="36576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602589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    ├── Home.jsx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635508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    ├── NewsPage.jsx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6684264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    ├── LostFoundPage.jsx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701344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Courier New"/>
              </a:rPr>
              <a:t>            └── TextbooksPage.jsx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3886200"/>
            <a:ext cx="3200400" cy="3200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5730" y="4446270"/>
            <a:ext cx="2080260" cy="20802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4330" y="4926330"/>
            <a:ext cx="1120139" cy="1120139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2376" y="529437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0"/>
            <a:ext cx="2743200" cy="2743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38460" y="480060"/>
            <a:ext cx="1783080" cy="1783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49940" y="891540"/>
            <a:ext cx="960119" cy="960119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65408" y="120700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Enhancements &amp; 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24128"/>
            <a:ext cx="20116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25880"/>
            <a:ext cx="3657600" cy="1207008"/>
          </a:xfrm>
          <a:prstGeom prst="rect">
            <a:avLst/>
          </a:prstGeom>
          <a:solidFill>
            <a:srgbClr val="1A1A2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User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92024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JWT-based login / register — profile pages with posting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325880"/>
            <a:ext cx="3657600" cy="1207008"/>
          </a:xfrm>
          <a:prstGeom prst="rect">
            <a:avLst/>
          </a:prstGeom>
          <a:solidFill>
            <a:srgbClr val="1A1A2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Image Uploads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192024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Multer middleware for photo uploads on news &amp; L&amp;F items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1325880"/>
            <a:ext cx="3657600" cy="1207008"/>
          </a:xfrm>
          <a:prstGeom prst="rect">
            <a:avLst/>
          </a:prstGeom>
          <a:solidFill>
            <a:srgbClr val="1A1A2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3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1" y="1481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In-app Messaging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3" y="192024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Real-time chat between students using Socket.io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3657600" cy="1207008"/>
          </a:xfrm>
          <a:prstGeom prst="rect">
            <a:avLst/>
          </a:prstGeom>
          <a:solidFill>
            <a:srgbClr val="1A1A2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852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Advanced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29184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Elasticsearch integration for fuzzy &amp; phonetic matching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2697480"/>
            <a:ext cx="3657600" cy="1207008"/>
          </a:xfrm>
          <a:prstGeom prst="rect">
            <a:avLst/>
          </a:prstGeom>
          <a:solidFill>
            <a:srgbClr val="1A1A2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852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Admin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29184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Analytics view — daily posts, active items, textbook turnover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1583" y="2697480"/>
            <a:ext cx="3657600" cy="1207008"/>
          </a:xfrm>
          <a:prstGeom prst="rect">
            <a:avLst/>
          </a:prstGeom>
          <a:solidFill>
            <a:srgbClr val="1A1A2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3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1" y="2852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PWA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3" y="329184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7"/>
                </a:solidFill>
                <a:latin typeface="Inter"/>
              </a:rPr>
              <a:t>Install as mobile app — offline mode &amp; push notifications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57800"/>
            <a:ext cx="11274552" cy="1234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949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Inter"/>
              </a:rPr>
              <a:t>CampusHub demonstrates a production-ready MERN stack architecture — from MongoDB schemas and Express REST APIs to a React frontend with premium dark UI, live search, category filtering, and direct student-to-student contact.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8BA7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